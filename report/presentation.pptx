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C3E50"/>
                </a:solidFill>
                <a:latin typeface="Georgia"/>
              </a:defRPr>
            </a:pPr>
            <a:r>
              <a:rPr sz="1400" b="0" i="0" u="none" strike="noStrike">
                <a:solidFill>
                  <a:srgbClr val="2C3E50"/>
                </a:solidFill>
                <a:latin typeface="Georgia"/>
              </a:rPr>
              <a:t>Cascade Delay Minutes Caught (thousands)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Our Model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K=50</c:v>
                  </c:pt>
                  <c:pt idx="1">
                    <c:v>K=100</c:v>
                  </c:pt>
                  <c:pt idx="2">
                    <c:v>K=200</c:v>
                  </c:pt>
                  <c:pt idx="3">
                    <c:v>K=500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295</c:v>
                </c:pt>
                <c:pt idx="1">
                  <c:v>563</c:v>
                </c:pt>
                <c:pt idx="2">
                  <c:v>1090</c:v>
                </c:pt>
                <c:pt idx="3">
                  <c:v>2600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Naive Baseline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K=50</c:v>
                  </c:pt>
                  <c:pt idx="1">
                    <c:v>K=100</c:v>
                  </c:pt>
                  <c:pt idx="2">
                    <c:v>K=200</c:v>
                  </c:pt>
                  <c:pt idx="3">
                    <c:v>K=500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195</c:v>
                </c:pt>
                <c:pt idx="1">
                  <c:v>335</c:v>
                </c:pt>
                <c:pt idx="2">
                  <c:v>610</c:v>
                </c:pt>
                <c:pt idx="3">
                  <c:v>1620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C3E50"/>
                </a:solidFill>
                <a:latin typeface="Georgia"/>
              </a:defRPr>
            </a:pPr>
            <a:r>
              <a:rPr sz="1400" b="0" i="0" u="none" strike="noStrike">
                <a:solidFill>
                  <a:srgbClr val="2C3E50"/>
                </a:solidFill>
                <a:latin typeface="Georgia"/>
              </a:rPr>
              <a:t>Cascade delay minutes by hour of inbound arrival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Cascade Delay (minutes)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Sheet1!$A$2:$A$17</c:f>
              <c:multiLvlStrCache>
                <c:ptCount val="16"/>
                <c:lvl>
                  <c:pt idx="0">
                    <c:v>06</c:v>
                  </c:pt>
                  <c:pt idx="1">
                    <c:v>07</c:v>
                  </c:pt>
                  <c:pt idx="2">
                    <c:v>08</c:v>
                  </c:pt>
                  <c:pt idx="3">
                    <c:v>09</c:v>
                  </c:pt>
                  <c:pt idx="4">
                    <c:v>10</c:v>
                  </c:pt>
                  <c:pt idx="5">
                    <c:v>11</c:v>
                  </c:pt>
                  <c:pt idx="6">
                    <c:v>12</c:v>
                  </c:pt>
                  <c:pt idx="7">
                    <c:v>13</c:v>
                  </c:pt>
                  <c:pt idx="8">
                    <c:v>14</c:v>
                  </c:pt>
                  <c:pt idx="9">
                    <c:v>15</c:v>
                  </c:pt>
                  <c:pt idx="10">
                    <c:v>16</c:v>
                  </c:pt>
                  <c:pt idx="11">
                    <c:v>17</c:v>
                  </c:pt>
                  <c:pt idx="12">
                    <c:v>18</c:v>
                  </c:pt>
                  <c:pt idx="13">
                    <c:v>19</c:v>
                  </c:pt>
                  <c:pt idx="14">
                    <c:v>20</c:v>
                  </c:pt>
                  <c:pt idx="15">
                    <c:v>21</c:v>
                  </c:pt>
                </c:lvl>
              </c:multiLvlStrCache>
            </c:multiLvl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2276</c:v>
                </c:pt>
                <c:pt idx="1">
                  <c:v>11365</c:v>
                </c:pt>
                <c:pt idx="2">
                  <c:v>4295</c:v>
                </c:pt>
                <c:pt idx="3">
                  <c:v>9326</c:v>
                </c:pt>
                <c:pt idx="4">
                  <c:v>4097</c:v>
                </c:pt>
                <c:pt idx="5">
                  <c:v>4558</c:v>
                </c:pt>
                <c:pt idx="6">
                  <c:v>1916</c:v>
                </c:pt>
                <c:pt idx="7">
                  <c:v>3679</c:v>
                </c:pt>
                <c:pt idx="8">
                  <c:v>970</c:v>
                </c:pt>
                <c:pt idx="9">
                  <c:v>3200</c:v>
                </c:pt>
                <c:pt idx="10">
                  <c:v>978</c:v>
                </c:pt>
                <c:pt idx="11">
                  <c:v>4203</c:v>
                </c:pt>
                <c:pt idx="12">
                  <c:v>2211</c:v>
                </c:pt>
                <c:pt idx="13">
                  <c:v>3814</c:v>
                </c:pt>
                <c:pt idx="14">
                  <c:v>1819</c:v>
                </c:pt>
                <c:pt idx="15">
                  <c:v>464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000000"/>
                    </a:solidFill>
                    <a:latin typeface="Arial"/>
                  </a:rPr>
                  <a:t>Hour of Day (local time)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StormChain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731520" y="34747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Airline Crew Sequences Meet Bad Weather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pilot flight pairings through DFW that should not share a sequence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5669280"/>
            <a:ext cx="3657600" cy="27432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EPPS-American Airlines Data Challenge  •  GROW 26.2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61722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github.com/drPod/stormchain   •   stormchain.streamlit.app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May 28, 2024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day at DFW — and the problem this model exists to solve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4747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78308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172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Weather-delayed inbound flights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0" y="1645920"/>
            <a:ext cx="34747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0" y="178308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471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4389120" y="29260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delays &gt; 15 min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321040" y="1645920"/>
            <a:ext cx="34747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178308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$4.4M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8321040" y="29260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cost (single day)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114800"/>
            <a:ext cx="11338560" cy="19202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251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CASCADE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4572000"/>
            <a:ext cx="10789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Thunderstorm at MCO delays inbound → pilot arrives DFW late → outbound to MIA departs late → MIA has its own weather → delay compounds → ripple across the day.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7200" y="6172200"/>
            <a:ext cx="11338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question: which pairs of flights should NOT share a pilot sequence?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StormChain  •  EPPS-AA Data Challenge  •  drPod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Built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system — not a theoretical framework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394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288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3040" y="18288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Pipeline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842K flights (BTS) + 3.5M weather obs (Open-Meteo) + 3.3M METAR obs (IEM)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554480"/>
            <a:ext cx="5394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182880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0" y="18288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Model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675120" y="256032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with AUC-ROC 0.81 on held-out 2024 data, 117 features, 1.5M training samples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5394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2062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63040" y="42062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Engine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22960" y="493776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37,920 pair-month risk scores + 1,220 avoid recommendations + 294 safe swaps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309360" y="3931920"/>
            <a:ext cx="5394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4206240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315200" y="42062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Dashboard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675120" y="493776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7-tab Streamlit app deployed publicly — schedulers can use it tomorrow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StormChain  •  EPPS-AA Data Challenge  •  drPod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Complementary Models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one model couldn't serve both roles well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5577840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0"/>
            <a:ext cx="557784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45920"/>
            <a:ext cx="5577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Scoring Model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OUTPUT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Weighted composite of pair-level features
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Normalized to 0–100 scale
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 pair × per month → 37,920 scores
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Weights cover all 4 PDF objectives:
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− Delay propagation: 60%
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− Missed connections: 15%
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− Duty time: 10%
</a:t>
            </a:r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− Fatigue: 10%
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645920"/>
            <a:ext cx="5486400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6459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XGBoost Classifier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217920" y="2377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+ FEATURE DISCOVERY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92240" y="274320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117 features, 1.5M synthetic sequences
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Temporal split: train 2019–2023, test 2024
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Class imbalance handled (42.7:1)
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AUC-ROC 0.81, AUC-PR 0.12
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Drives feature weighting for risk scoring
</a:t>
            </a:r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Honest note: AUC-PR is low because</a:t>
            </a:r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cascading delays are 2.5% of sequences.
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StormChain  •  EPPS-AA Data Challenge  •  drPod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Proof — Beating a Naive Baseline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baseline: "just avoid pairs where both airports have above-median delay rates"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73152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46720" y="1463040"/>
            <a:ext cx="3840480" cy="43891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3"/>
          <p:cNvSpPr/>
          <p:nvPr/>
        </p:nvSpPr>
        <p:spPr>
          <a:xfrm>
            <a:off x="8046720" y="2011680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+78%</a:t>
            </a:r>
            <a:endParaRPr lang="en-US" sz="8800" dirty="0"/>
          </a:p>
        </p:txBody>
      </p:sp>
      <p:sp>
        <p:nvSpPr>
          <p:cNvPr id="7" name="Text 4"/>
          <p:cNvSpPr/>
          <p:nvPr/>
        </p:nvSpPr>
        <p:spPr>
          <a:xfrm>
            <a:off x="8046720" y="347472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cascade minutes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at K=200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778240" y="4389120"/>
            <a:ext cx="2377440" cy="27432"/>
          </a:xfrm>
          <a:prstGeom prst="rect">
            <a:avLst/>
          </a:prstGeom>
          <a:solidFill>
            <a:srgbClr val="F9B233"/>
          </a:solidFill>
          <a:ln/>
        </p:spPr>
      </p:sp>
      <p:sp>
        <p:nvSpPr>
          <p:cNvPr id="9" name="Text 6"/>
          <p:cNvSpPr/>
          <p:nvPr/>
        </p:nvSpPr>
        <p:spPr>
          <a:xfrm>
            <a:off x="8046720" y="45720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176 pairs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model catches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naive misses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594360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proves the model captures correlated weather, cascade mechanics, and turnaround sensitivity — beyond what common-sense airport-level thinking catches.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StormChain  •  EPPS-AA Data Challenge  •  drPod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Product — Actionable Recommendations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risk score. A specific avoid list with swaps.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LIST — SUMMER (JUN–AUG)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7498080" cy="2926080"/>
        </p:xfrm>
        <a:graphic>
          <a:graphicData uri="http://schemas.openxmlformats.org/drawingml/2006/table">
            <a:tbl>
              <a:tblPr/>
              <a:tblGrid>
                <a:gridCol w="2377440"/>
                <a:gridCol w="822960"/>
                <a:gridCol w="4297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MCO → DFW → MIA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Correlated Florida thunderstorms, tight turnaround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ATL → DFW → MCO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Southeast storm system hits both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 → DFW → MCO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Afternoon convection + long flights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IAH → DFW → SAT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6B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Texas storm corridor, shared weather cell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229600" y="1554480"/>
            <a:ext cx="3657600" cy="32918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0" y="1691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SWAP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0" y="2057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229600" y="2377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MCO → DFW → MIA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229600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96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22960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8229600" y="3611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229600" y="3931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MCO → DFW → HRL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8229600" y="4389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30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5212080"/>
            <a:ext cx="113385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53035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1,220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731520" y="5852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recommendations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572000" y="53035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294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4572000" y="5852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swap alternatives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412480" y="53035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200" dirty="0"/>
          </a:p>
        </p:txBody>
      </p:sp>
      <p:sp>
        <p:nvSpPr>
          <p:cNvPr id="21" name="Text 18"/>
          <p:cNvSpPr/>
          <p:nvPr/>
        </p:nvSpPr>
        <p:spPr>
          <a:xfrm>
            <a:off x="8412480" y="5852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views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StormChain  •  EPPS-AA Data Challenge  •  drPod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Study — May 28, 2024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METAR at 05:53 UTC: "+TSRA FG SQ" — heavy thunderstorm, fog, squall, zero visibility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63040"/>
          <a:ext cx="74980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463040"/>
            <a:ext cx="3657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0" y="146304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170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9692640" y="146304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pilot sequences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229600" y="2377440"/>
            <a:ext cx="3657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0" y="237744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149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9692640" y="237744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propagated delay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229600" y="3291840"/>
            <a:ext cx="36576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0" y="329184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$4.4M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9692640" y="329184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cascade cost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229600" y="4389120"/>
            <a:ext cx="3657600" cy="128016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0" y="4480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9B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FINDING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366760" y="480060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model flagged only 9 of 170 sequences. Extreme days produce cascades on unusual routes. Our strength: predictable seasonal patterns, not black swans.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StormChain  •  EPPS-AA Data Challenge  •  drPod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 Evolution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it, critiqued our own work, and fixed 12 gaps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00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5544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 time violations → added FAA Part 117 features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58568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585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21284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 risk → added WOCL exposure scoring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916936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91693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871216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connections → added buffer adequacy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575304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57530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52958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weather co-occurrence → cascade physics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233672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2336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4187952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weather proxies → integrated real METAR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892040"/>
            <a:ext cx="411480" cy="4114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892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48463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Inflated impact: $614M → recounted → $4.4M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0" y="160020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1600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949440" y="15544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Inflated annual: $25M → adjusted to $438K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0" y="2258568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225856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49440" y="2212848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DFW weather dominance → reframed as conditioning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0" y="2916936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0" y="291693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49440" y="2871216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Airport-level → time-of-day patterns identified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00800" y="3575304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357530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49440" y="3529584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actionable output → avoid list + swaps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400800" y="4233672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0" y="42336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949440" y="4187952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case study → May 28, 2024 analyzed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400800" y="4892040"/>
            <a:ext cx="411480" cy="4114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0" y="4892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949440" y="48463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AUC-PR → reframed as rare-event expected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57200" y="5760720"/>
            <a:ext cx="11338560" cy="64008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5760720"/>
            <a:ext cx="11338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Outcome: AUC-ROC improved 0.75 → 0.81  •  Impact estimates became defensible  •  Tool became actionable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StormChain  •  EPPS-AA Data Challenge  •  drPod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Don't Know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Intellectual honesty — the limitations we've identified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73152" cy="100584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DFW weather dominates XGBoost features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— affects every sequence. Mitigated by risk-scoring model using pair-level features. Production should condition on DFW weather state.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73152" cy="100584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7432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Rare route combinations slip through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aggregation can't score routes with sparse history. The May 28 case study showed extreme cascades on unusual pairs. Real-time monitoring complements the model.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931920"/>
            <a:ext cx="73152" cy="100584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93192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access to actual crew schedules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4343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 synthetic sequences from matching inbound/outbound flights. AA's real crew assignments may differ. Internal data would refine this significantly.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5120640"/>
            <a:ext cx="73152" cy="100584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512064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 hub, 80 airports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31520" y="5532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covers DFW only. Extending to CLT, MIA, ORD, PHX, PHL — and full US airport universe — would multiply impact 5-6×.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StormChain  •  EPPS-AA Data Challenge  •  drPod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Delivering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274320" cy="274320"/>
          </a:xfrm>
          <a:prstGeom prst="ellipse">
            <a:avLst/>
          </a:prstGeom>
          <a:solidFill>
            <a:srgbClr val="F9B233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288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working, inspectable pipeline — full source on GitHub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514600"/>
            <a:ext cx="274320" cy="274320"/>
          </a:xfrm>
          <a:prstGeom prst="ellipse">
            <a:avLst/>
          </a:prstGeom>
          <a:solidFill>
            <a:srgbClr val="F9B233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4231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interactive dashboard — schedulers could use it tomorrow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3108960"/>
            <a:ext cx="274320" cy="274320"/>
          </a:xfrm>
          <a:prstGeom prst="ellipse">
            <a:avLst/>
          </a:prstGeom>
          <a:solidFill>
            <a:srgbClr val="F9B233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30175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concrete avoid list with swap recommendations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3703320"/>
            <a:ext cx="274320" cy="274320"/>
          </a:xfrm>
          <a:prstGeom prst="ellipse">
            <a:avLst/>
          </a:prstGeom>
          <a:solidFill>
            <a:srgbClr val="F9B233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outperforms the naive baseline by 78%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4297680"/>
            <a:ext cx="274320" cy="274320"/>
          </a:xfrm>
          <a:prstGeom prst="ellipse">
            <a:avLst/>
          </a:prstGeom>
          <a:solidFill>
            <a:srgbClr val="F9B233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4206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documentation of what we know — and what we don't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31520" y="5029200"/>
            <a:ext cx="10698480" cy="27432"/>
          </a:xfrm>
          <a:prstGeom prst="rect">
            <a:avLst/>
          </a:prstGeom>
          <a:solidFill>
            <a:srgbClr val="F9B233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52120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$438K / year at DFW today. Across AA's full hub network — materially more.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31520" y="57607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B2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github.com/drPod/stormchain   •   stormchain.streamlit.app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StormChain</dc:title>
  <dc:subject>PptxGenJS Presentation</dc:subject>
  <dc:creator>drPod</dc:creator>
  <cp:lastModifiedBy>drPod</cp:lastModifiedBy>
  <cp:revision>1</cp:revision>
  <dcterms:created xsi:type="dcterms:W3CDTF">2026-04-14T04:02:25Z</dcterms:created>
  <dcterms:modified xsi:type="dcterms:W3CDTF">2026-04-14T04:02:25Z</dcterms:modified>
</cp:coreProperties>
</file>