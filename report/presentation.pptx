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Airline Crew Sequences Meet Bad Weather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EPPS-American Airlines Data Challenge — GROW 26.2</a:t>
            </a:r>
            <a:br/>
            <a:br/>
            <a:r>
              <a:rPr/>
              <a:t>Team Submission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1: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Airline Crew Sequences Meet Bad Weather</a:t>
            </a:r>
          </a:p>
          <a:p>
            <a:pPr lvl="0" indent="0" marL="0">
              <a:buNone/>
            </a:pPr>
            <a:r>
              <a:rPr/>
              <a:t>Identifying pilot flight pairings through DFW that should not share a sequence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2: The Problem in One Picture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May 28, 2024 at DFW</a:t>
            </a:r>
            <a:r>
              <a:rPr/>
              <a:t> — the worst cascading delay day in our dataset</a:t>
            </a:r>
          </a:p>
          <a:p>
            <a:pPr lvl="0"/>
            <a:r>
              <a:rPr/>
              <a:t>172 inbound flights arrived weather-delayed (19.5%)</a:t>
            </a:r>
          </a:p>
          <a:p>
            <a:pPr lvl="0"/>
            <a:r>
              <a:rPr/>
              <a:t>471 outbound flights departed late (53.2%)</a:t>
            </a:r>
          </a:p>
          <a:p>
            <a:pPr lvl="0"/>
            <a:r>
              <a:rPr b="1"/>
              <a:t>$4.4M in cascading delays — in a single day</a:t>
            </a:r>
          </a:p>
          <a:p>
            <a:pPr lvl="0" indent="0" marL="0">
              <a:buNone/>
            </a:pPr>
            <a:r>
              <a:rPr/>
              <a:t>Why? Pilots assigned to risky sequences. When their inbound from MCO gets hit by a thunderstorm, they arrive late at DFW, and their outbound to LAX departs late — the delay cascades.</a:t>
            </a:r>
          </a:p>
          <a:p>
            <a:pPr lvl="0" indent="0" marL="0">
              <a:buNone/>
            </a:pPr>
            <a:r>
              <a:rPr i="1"/>
              <a:t>The challenge: which pairs of flights should NOT share a pilot sequence?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3: What We Built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working system, not just a methodology document:</a:t>
            </a:r>
          </a:p>
          <a:p>
            <a:pPr lvl="0"/>
            <a:r>
              <a:rPr b="1"/>
              <a:t>Data pipeline</a:t>
            </a:r>
            <a:r>
              <a:rPr/>
              <a:t>: 842K flights, 3.5M weather records, 3.3M real METAR observations</a:t>
            </a:r>
          </a:p>
          <a:p>
            <a:pPr lvl="0"/>
            <a:r>
              <a:rPr b="1"/>
              <a:t>Machine learning model</a:t>
            </a:r>
            <a:r>
              <a:rPr/>
              <a:t>: XGBoost with AUC-ROC 0.81 on held-out 2024 data</a:t>
            </a:r>
          </a:p>
          <a:p>
            <a:pPr lvl="0"/>
            <a:r>
              <a:rPr b="1"/>
              <a:t>Risk scoring</a:t>
            </a:r>
            <a:r>
              <a:rPr/>
              <a:t>: 37,920 pair-month risk scores</a:t>
            </a:r>
          </a:p>
          <a:p>
            <a:pPr lvl="0"/>
            <a:r>
              <a:rPr b="1"/>
              <a:t>Production output</a:t>
            </a:r>
            <a:r>
              <a:rPr/>
              <a:t>: 1,220 avoid recommendations + 294 swap suggestions</a:t>
            </a:r>
          </a:p>
          <a:p>
            <a:pPr lvl="0"/>
            <a:r>
              <a:rPr b="1"/>
              <a:t>Interactive dashboard</a:t>
            </a:r>
            <a:r>
              <a:rPr/>
              <a:t>: 7 tabs for exploration</a:t>
            </a:r>
          </a:p>
          <a:p>
            <a:pPr lvl="0" indent="0" marL="0">
              <a:buNone/>
            </a:pPr>
            <a:r>
              <a:rPr/>
              <a:t>All addressing 4 challenge objectives: delay propagation, duty time, missed connections, fatigue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Slide 4: The Model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complementary approaches: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XGBoost classifier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Feature discovery and validation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Composite risk score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Production rankings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features used:</a:t>
            </a:r>
          </a:p>
          <a:p>
            <a:pPr lvl="0"/>
            <a:r>
              <a:rPr/>
              <a:t>Joint weather delay probability</a:t>
            </a:r>
          </a:p>
          <a:p>
            <a:pPr lvl="0"/>
            <a:r>
              <a:rPr/>
              <a:t>IFR co-occurrence from real METAR data</a:t>
            </a:r>
          </a:p>
          <a:p>
            <a:pPr lvl="0"/>
            <a:r>
              <a:rPr/>
              <a:t>Cascade propagation mechanics (actual delay minutes)</a:t>
            </a:r>
          </a:p>
          <a:p>
            <a:pPr lvl="0"/>
            <a:r>
              <a:rPr/>
              <a:t>Turnaround adequacy &amp; duty time risk</a:t>
            </a:r>
          </a:p>
          <a:p>
            <a:pPr lvl="0"/>
            <a:r>
              <a:rPr/>
              <a:t>Weather correlation, thunderstorm co-occurrence</a:t>
            </a:r>
          </a:p>
          <a:p>
            <a:pPr lvl="0"/>
            <a:r>
              <a:rPr/>
              <a:t>Fatigue exposure (WOCL overlap)</a:t>
            </a:r>
          </a:p>
          <a:p>
            <a:pPr lvl="0" indent="0" marL="0">
              <a:buNone/>
            </a:pPr>
            <a:r>
              <a:rPr b="1"/>
              <a:t>Training:</a:t>
            </a:r>
            <a:r>
              <a:rPr/>
              <a:t> 1.9M synthetic pilot sequences, temporal train/test split, class imbalance handled via </a:t>
            </a:r>
            <a:r>
              <a:rPr>
                <a:latin typeface="Courier"/>
              </a:rPr>
              <a:t>scale_pos_weight</a:t>
            </a:r>
            <a:r>
              <a:rPr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Slide 5: The Proof — Beating the Naive Baseline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compared our model against a simple baseline: “just avoid pairs of two individually high-delay airports.”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/>
                <a:gridCol w="1270000"/>
                <a:gridCol w="1270000"/>
                <a:gridCol w="1270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Pairs Flagged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Naive 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Our Improvement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295K min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195K min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+51%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563K min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335K min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+68%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1.09M min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610K min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+78%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2.60M min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1.62M min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+60%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K=500, </a:t>
            </a:r>
            <a:r>
              <a:rPr b="1"/>
              <a:t>176 pairs our model catches that the naive approach misses entirely.</a:t>
            </a:r>
          </a:p>
          <a:p>
            <a:pPr lvl="0" indent="0" marL="0">
              <a:buNone/>
            </a:pPr>
            <a:r>
              <a:rPr/>
              <a:t>This proves the model captures correlated weather, cascade mechanics, and turnaround sensitivity — beyond common sense.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Slide 6: The Product — Actionable Recommendations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don’t just identify risk. We prescribe action.</a:t>
            </a:r>
          </a:p>
          <a:p>
            <a:pPr lvl="0" indent="0" marL="0">
              <a:buNone/>
            </a:pPr>
            <a:r>
              <a:rPr b="1"/>
              <a:t>Avoid list (1,220 pair-season entries):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/>
                <a:gridCol w="1016000"/>
                <a:gridCol w="1016000"/>
                <a:gridCol w="1016000"/>
                <a:gridCol w="1016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Airport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Airport 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MCO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Correlated thunderstorms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ATL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MCO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Same storm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Texas storm corridor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Swap recommendations (294 alternatives):</a:t>
            </a:r>
          </a:p>
          <a:p>
            <a:pPr lvl="0" indent="0" marL="1270000">
              <a:buNone/>
            </a:pPr>
            <a:r>
              <a:rPr sz="2000"/>
              <a:t>Instead of MCO → DFW → MIA (risk 96) — try MCO → DFW → HRL (risk 30)</a:t>
            </a:r>
          </a:p>
          <a:p>
            <a:pPr lvl="0" indent="0" marL="0">
              <a:buNone/>
            </a:pPr>
            <a:r>
              <a:rPr b="1"/>
              <a:t>Seasonal patterns:</a:t>
            </a:r>
            <a:r>
              <a:rPr/>
              <a:t> - Spring = Southeast thunderstorm corridor (MCO dominant) - Summer = Florida convection (MCO in 8 of top 10) - Winter = Northeast snow + LAX-SAN Santa Ana winds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7: Case Study — May 28,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actually happened that day (from METAR):</a:t>
            </a:r>
          </a:p>
          <a:p>
            <a:pPr lvl="0"/>
            <a:r>
              <a:rPr/>
              <a:t>05:53 UTC: DFW METAR reads </a:t>
            </a:r>
            <a:r>
              <a:rPr>
                <a:latin typeface="Courier"/>
              </a:rPr>
              <a:t>+TSRA FG SQ</a:t>
            </a:r>
            <a:r>
              <a:rPr/>
              <a:t> — heavy thunderstorm, fog, squall</a:t>
            </a:r>
          </a:p>
          <a:p>
            <a:pPr lvl="0"/>
            <a:r>
              <a:rPr/>
              <a:t>Zero visibility for 40+ minutes</a:t>
            </a:r>
          </a:p>
          <a:p>
            <a:pPr lvl="0"/>
            <a:r>
              <a:rPr/>
              <a:t>By mid-morning, 172 inbound flights were weather-delayed</a:t>
            </a:r>
          </a:p>
          <a:p>
            <a:pPr lvl="0" indent="0" marL="0">
              <a:buNone/>
            </a:pPr>
            <a:r>
              <a:rPr b="1"/>
              <a:t>Cascade mechanics:</a:t>
            </a:r>
            <a:r>
              <a:rPr/>
              <a:t> - 170 realistic pilot sequences (one outbound per inbound) - 149 with actual propagated delay (exceeded turnaround buffer) - $4.4M cascade cost in a single day</a:t>
            </a:r>
          </a:p>
          <a:p>
            <a:pPr lvl="0" indent="0" marL="0">
              <a:buNone/>
            </a:pPr>
            <a:r>
              <a:rPr b="1"/>
              <a:t>Honest note:</a:t>
            </a:r>
            <a:r>
              <a:rPr/>
              <a:t> Our model flagged 9 of 170 sequences. The rest involved unusual route combinations (BOS-BHM, AMA-FLL) that monthly aggregation can’t score. Our model catches the </a:t>
            </a:r>
            <a:r>
              <a:rPr b="1"/>
              <a:t>predictable seasonal patterns</a:t>
            </a:r>
            <a:r>
              <a:rPr/>
              <a:t>; extreme weather events require real-time monitoring to complement.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8: Methodology Evolution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critiqued our own work and fixed 12 gaps:</a:t>
            </a:r>
          </a:p>
          <a:p>
            <a:pPr lvl="0" indent="-342900" marL="342900">
              <a:buAutoNum type="arabicPeriod"/>
            </a:pPr>
            <a:r>
              <a:rPr/>
              <a:t>Duty time unaddressed → added FAA Part 117 features</a:t>
            </a:r>
          </a:p>
          <a:p>
            <a:pPr lvl="0" indent="-342900" marL="342900">
              <a:buAutoNum type="arabicPeriod"/>
            </a:pPr>
            <a:r>
              <a:rPr/>
              <a:t>Missed connections = delays → added buffer adequacy</a:t>
            </a:r>
          </a:p>
          <a:p>
            <a:pPr lvl="0" indent="-342900" marL="342900">
              <a:buAutoNum type="arabicPeriod"/>
            </a:pPr>
            <a:r>
              <a:rPr/>
              <a:t>Binary weather co-occurrence → built cascade physics model</a:t>
            </a:r>
          </a:p>
          <a:p>
            <a:pPr lvl="0" indent="-342900" marL="342900">
              <a:buAutoNum type="arabicPeriod"/>
            </a:pPr>
            <a:r>
              <a:rPr/>
              <a:t>Open-Meteo proxy weather → integrated real METAR</a:t>
            </a:r>
          </a:p>
          <a:p>
            <a:pPr lvl="0" indent="-342900" marL="342900">
              <a:buAutoNum type="arabicPeriod"/>
            </a:pPr>
            <a:r>
              <a:rPr/>
              <a:t>$614M inflated case study → 240× recount → $4.4M honest</a:t>
            </a:r>
          </a:p>
          <a:p>
            <a:pPr lvl="0" indent="-342900" marL="342900">
              <a:buAutoNum type="arabicPeriod"/>
            </a:pPr>
            <a:r>
              <a:rPr/>
              <a:t>$25M/year upper bound → added assignment-probability adjustment ($438K)</a:t>
            </a:r>
          </a:p>
          <a:p>
            <a:pPr lvl="0" indent="-342900" marL="342900">
              <a:buAutoNum type="arabicPeriod"/>
            </a:pPr>
            <a:r>
              <a:rPr/>
              <a:t>Airport-level → added time-of-day considerations … and 5 more documented in the report</a:t>
            </a:r>
          </a:p>
          <a:p>
            <a:pPr lvl="0" indent="0" marL="0">
              <a:buNone/>
            </a:pPr>
            <a:r>
              <a:rPr b="1"/>
              <a:t>Outcome:</a:t>
            </a:r>
            <a:r>
              <a:rPr/>
              <a:t> AUC-ROC improved from 0.75 → 0.81. Impact estimates became defensible instead of inflated.</a:t>
            </a:r>
          </a:p>
          <a:p>
            <a:pPr lvl="0" indent="0" marL="0">
              <a:buNone/>
            </a:pPr>
            <a:r>
              <a:rPr i="1"/>
              <a:t>This is the kind of self-correction that distinguishes rigorous analysis from surface-level work.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9: Limitations (We Know What We Don’t Know)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DFW weather dominates XGBoost feature importance.</a:t>
            </a:r>
            <a:r>
              <a:rPr/>
              <a:t> Expected — it affects every sequence. Risk scoring model mitigates via pair-level features. Production should treat DFW weather as a conditioning variable.</a:t>
            </a:r>
          </a:p>
          <a:p>
            <a:pPr lvl="0" indent="0" marL="0">
              <a:buNone/>
            </a:pPr>
            <a:r>
              <a:rPr b="1"/>
              <a:t>Rare route combinations slip through.</a:t>
            </a:r>
            <a:r>
              <a:rPr/>
              <a:t> Monthly aggregation can’t score routes with sparse history. Complement with real-time monitoring.</a:t>
            </a:r>
          </a:p>
          <a:p>
            <a:pPr lvl="0" indent="0" marL="0">
              <a:buNone/>
            </a:pPr>
            <a:r>
              <a:rPr b="1"/>
              <a:t>No access to actual crew schedules.</a:t>
            </a:r>
            <a:r>
              <a:rPr/>
              <a:t> Synthetic sequences may differ from AA’s real assignments. Would need internal data to refine.</a:t>
            </a:r>
          </a:p>
          <a:p>
            <a:pPr lvl="0" indent="0" marL="0">
              <a:buNone/>
            </a:pPr>
            <a:r>
              <a:rPr b="1"/>
              <a:t>Single hub.</a:t>
            </a:r>
            <a:r>
              <a:rPr/>
              <a:t> Extending to CLT, MIA, ORD, PHX, PHL would multiply impact 5-6×.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10: The Ask &amp; Closing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we’re delivering:</a:t>
            </a:r>
          </a:p>
          <a:p>
            <a:pPr lvl="0" indent="-342900" marL="342900">
              <a:buAutoNum type="arabicPeriod"/>
            </a:pPr>
            <a:r>
              <a:rPr/>
              <a:t>A working, inspectable pipeline (GitHub repo)</a:t>
            </a:r>
          </a:p>
          <a:p>
            <a:pPr lvl="0" indent="-342900" marL="342900">
              <a:buAutoNum type="arabicPeriod"/>
            </a:pPr>
            <a:r>
              <a:rPr/>
              <a:t>An interactive dashboard AA’s schedulers could use tomorrow</a:t>
            </a:r>
          </a:p>
          <a:p>
            <a:pPr lvl="0" indent="-342900" marL="342900">
              <a:buAutoNum type="arabicPeriod"/>
            </a:pPr>
            <a:r>
              <a:rPr/>
              <a:t>A concrete avoid list with swap recommendations</a:t>
            </a:r>
          </a:p>
          <a:p>
            <a:pPr lvl="0" indent="-342900" marL="342900">
              <a:buAutoNum type="arabicPeriod"/>
            </a:pPr>
            <a:r>
              <a:rPr/>
              <a:t>A validated model with a defensible baseline improvement (+78%)</a:t>
            </a:r>
          </a:p>
          <a:p>
            <a:pPr lvl="0" indent="-342900" marL="342900">
              <a:buAutoNum type="arabicPeriod"/>
            </a:pPr>
            <a:r>
              <a:rPr/>
              <a:t>Honest documentation of what we know and what we don’t</a:t>
            </a:r>
          </a:p>
          <a:p>
            <a:pPr lvl="0" indent="0" marL="0">
              <a:buNone/>
            </a:pPr>
            <a:r>
              <a:rPr b="1"/>
              <a:t>$438K/year at DFW today. Multiplied across AA’s hub network, materially more.</a:t>
            </a:r>
          </a:p>
          <a:p>
            <a:pPr lvl="0" indent="0" marL="0">
              <a:buNone/>
            </a:pPr>
            <a:r>
              <a:rPr b="1"/>
              <a:t>Most importantly:</a:t>
            </a:r>
            <a:r>
              <a:rPr/>
              <a:t> a framework that gets better as more data and schedule information become available.</a:t>
            </a:r>
          </a:p>
          <a:p>
            <a:pPr lvl="0" indent="0" marL="0">
              <a:buNone/>
            </a:pPr>
            <a:r>
              <a:rPr/>
              <a:t>Thank you.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Airline Crew Sequences Meet Bad Weather</dc:title>
  <dc:creator>Team Submission</dc:creator>
  <cp:keywords/>
  <dcterms:created xsi:type="dcterms:W3CDTF">2026-04-14T02:14:31Z</dcterms:created>
  <dcterms:modified xsi:type="dcterms:W3CDTF">2026-04-14T02:14:31Z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lortheme">
    <vt:lpwstr>default</vt:lpwstr>
  </property>
  <property fmtid="{D5CDD505-2E9C-101B-9397-08002B2CF9AE}" pid="3" name="subtitle">
    <vt:lpwstr>EPPS-American Airlines Data Challenge — GROW 26.2</vt:lpwstr>
  </property>
  <property fmtid="{D5CDD505-2E9C-101B-9397-08002B2CF9AE}" pid="4" name="theme">
    <vt:lpwstr>default</vt:lpwstr>
  </property>
</Properties>
</file>